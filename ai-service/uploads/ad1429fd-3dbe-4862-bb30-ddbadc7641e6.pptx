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0"/>
            <a:ext cx="3657600" cy="2743200"/>
          </a:xfrm>
          <a:prstGeom prst="rtTriangle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0"/>
            <a:ext cx="109728" cy="1920240"/>
          </a:xfrm>
          <a:prstGeom prst="rect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55448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Gerenciamento de Projetos de Alto Nível: Da Teoria à Prática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Estratégias Essenciais para Entregar Resultados com Sucesso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80960" y="4206240"/>
            <a:ext cx="1097280" cy="365760"/>
          </a:xfrm>
          <a:prstGeom prst="roundRect">
            <a:avLst>
              <a:gd name="adj" fmla="val 25000"/>
            </a:avLst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42062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slides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2D4356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286000" y="4892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 de Projetos de Alto Nível: Da Teo...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25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Objetivos de Aprendizagem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347472" cy="347472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34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188720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Recordar os conceitos fundamentais de projeto e gerenciamento.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801368"/>
            <a:ext cx="347472" cy="347472"/>
          </a:xfrm>
          <a:prstGeom prst="ellipse">
            <a:avLst/>
          </a:prstGeom>
          <a:solidFill>
            <a:srgbClr val="1E84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8013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755648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Compreender as áreas de conhecimento do PMBOK e seus processos.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368296"/>
            <a:ext cx="347472" cy="34747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3682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2322576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ferramentas e técnicas para planejar e controlar projetos.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935224"/>
            <a:ext cx="347472" cy="347472"/>
          </a:xfrm>
          <a:prstGeom prst="ellipse">
            <a:avLst/>
          </a:prstGeom>
          <a:solidFill>
            <a:srgbClr val="6C34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9352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2889504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 estudos de caso para identificar boas práticas de GP.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502152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5021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345643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a importância do papel do gerente de projetos.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2D4356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286000" y="4892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 de Projetos de Alto Nível: Da Teo...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25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67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0"/>
            <a:ext cx="9144000" cy="19431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Entendendo a Base: O Que É e Para Que Serve?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371600" y="34747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do Gerenciamento de Projetos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2D4356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286000" y="4892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 de Projetos de Alto Nível: Da Teo...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25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34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Projeto: Um Esforço Único e Temporário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97864"/>
            <a:ext cx="109728" cy="109728"/>
          </a:xfrm>
          <a:prstGeom prst="ellipse">
            <a:avLst/>
          </a:prstGeom>
          <a:solidFill>
            <a:srgbClr val="6C34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Temporário: Tem início e fim definidos.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801368"/>
            <a:ext cx="109728" cy="109728"/>
          </a:xfrm>
          <a:prstGeom prst="ellipse">
            <a:avLst/>
          </a:prstGeom>
          <a:solidFill>
            <a:srgbClr val="6C34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5506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Único: Gera um produto, serviço ou resultado exclusivo.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404872"/>
            <a:ext cx="109728" cy="109728"/>
          </a:xfrm>
          <a:prstGeom prst="ellipse">
            <a:avLst/>
          </a:prstGeom>
          <a:solidFill>
            <a:srgbClr val="6C34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5856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Progressivo: Detalhes são elaborados conforme avança.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008376"/>
            <a:ext cx="109728" cy="109728"/>
          </a:xfrm>
          <a:prstGeom prst="ellipse">
            <a:avLst/>
          </a:prstGeom>
          <a:solidFill>
            <a:srgbClr val="6C34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86207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Transformador: Leva a organização a um novo estado.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2D4356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286000" y="4892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 de Projetos de Alto Nível: Da Teo...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25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Projetos ou Operações: Qual o Foco?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480560" y="1005840"/>
            <a:ext cx="45720" cy="3657600"/>
          </a:xfrm>
          <a:prstGeom prst="rect">
            <a:avLst/>
          </a:prstGeom>
          <a:solidFill>
            <a:srgbClr val="1A73E8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3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Aspecto 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**Projetos**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210312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Criar novo produto/serviço.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27432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Mudar o status quo.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33832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Ações contínuas e repetitivas.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3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Aspecto 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14630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Esforços únicos e temporários.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210312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Resultados exclusivos.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27432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**Operações**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33832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Manter processos existentes.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2D4356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286000" y="4892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 de Projetos de Alto Nível: Da Teo...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E84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dirty="0">
                <a:solidFill>
                  <a:srgbClr val="1E8449">
                    <a:alpha val="3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“A aplicação de conhecimento, habilidades, ferramentas e técnicas às atividades do projeto a fim de atender aos seus requisitos.”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— Project Management Body of Knowledge (PMBOK)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Gerenciar Projetos: A Arte de Atender Requisitos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2D4356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286000" y="4892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 de Projetos de Alto Nível: Da Teo...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25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Jornada Histórica do Gerenciamento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97864"/>
            <a:ext cx="109728" cy="10972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Raízes: Henry Gantt e Frederick Taylor (séc. XX).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801368"/>
            <a:ext cx="109728" cy="10972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5506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Moderna: Anos 50 com programas complexos.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404872"/>
            <a:ext cx="109728" cy="10972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5856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 (1969): Padronização e profissionalização.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008376"/>
            <a:ext cx="109728" cy="10972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86207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PMBOK (1981): Guia de melhores práticas globais.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" y="3611880"/>
            <a:ext cx="109728" cy="10972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465576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Atualidade: Habilidade essencial para qualquer profissional.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2D4356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286000" y="4892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 de Projetos de Alto Nível: Da Teo...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25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PMI: Liderando a Profissão Globalmente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103120" cy="3474720"/>
          </a:xfrm>
          <a:prstGeom prst="roundRect">
            <a:avLst>
              <a:gd name="adj" fmla="val 4348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64592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Fundação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301752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1969 na Pensilvânia, EUA.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68880" y="1005840"/>
            <a:ext cx="2103120" cy="3474720"/>
          </a:xfrm>
          <a:prstGeom prst="roundRect">
            <a:avLst>
              <a:gd name="adj" fmla="val 4348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64592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Impacto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468880" y="301752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líder em certificação (PMP).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2103120" cy="3474720"/>
          </a:xfrm>
          <a:prstGeom prst="roundRect">
            <a:avLst>
              <a:gd name="adj" fmla="val 4348"/>
            </a:avLst>
          </a:prstGeom>
          <a:solidFill>
            <a:srgbClr val="6C34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64592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Padrões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663440" y="301752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Estabelece guias como o PMBOK.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0" y="1005840"/>
            <a:ext cx="2103120" cy="3474720"/>
          </a:xfrm>
          <a:prstGeom prst="roundRect">
            <a:avLst>
              <a:gd name="adj" fmla="val 4348"/>
            </a:avLst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164592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Comunidade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58000" y="301752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global de profissionais.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2D4356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2286000" y="4892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 de Projetos de Alto Nível: Da Teo...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25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Por Que Gerenciar Projetos é Crucial?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97864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necessidades claras.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801368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5506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Estabelecer objetivos alcançáveis.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404872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5856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Balancear escopo, tempo e custo.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008376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86207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Adaptar-se a expectativas diversas.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" y="3611880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465576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valor estratégico.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2D4356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286000" y="4892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 de Projetos de Alto Nível: Da Teo...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25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E84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dirty="0">
                <a:solidFill>
                  <a:srgbClr val="1E8449">
                    <a:alpha val="3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“Uma bola e um bastão custam juntos R$ 1,10; o bastão custa um Real a mais que a bola.”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Pense em como a intuição pode falhar ao atender requisitos.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Custa a Bola? (Desafio dos 10 Segundos)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2D4356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286000" y="4892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 de Projetos de Alto Nível: Da Teo...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25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Atendendo aos Requisitos: A Solução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480560" y="1005840"/>
            <a:ext cx="45720" cy="3657600"/>
          </a:xfrm>
          <a:prstGeom prst="rect">
            <a:avLst/>
          </a:prstGeom>
          <a:solidFill>
            <a:srgbClr val="E67E22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Aspecto 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**Requisito 1: Custo Total**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210312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Bola: R$ 0,05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27432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**Requisito 2: Diferença de Preço**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Aspecto 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14630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Bastão: R$ 1,05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210312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Juntos: R$ 1,05 + R$ 0,05 = R$ 1,10 (Correto!)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27432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Diferença: R$ 1,05 - R$ 0,05 = R$ 1,00 (Correto!)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2D4356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286000" y="4892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 de Projetos de Alto Nível: Da Teo...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25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34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 Ciclo de Vida: Guia para o Projeto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97864"/>
            <a:ext cx="109728" cy="109728"/>
          </a:xfrm>
          <a:prstGeom prst="ellipse">
            <a:avLst/>
          </a:prstGeom>
          <a:solidFill>
            <a:srgbClr val="6C34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as fases que conectam o início ao fim.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801368"/>
            <a:ext cx="109728" cy="109728"/>
          </a:xfrm>
          <a:prstGeom prst="ellipse">
            <a:avLst/>
          </a:prstGeom>
          <a:solidFill>
            <a:srgbClr val="6C34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5506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Esclarece o trabalho técnico a ser realizado.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404872"/>
            <a:ext cx="109728" cy="109728"/>
          </a:xfrm>
          <a:prstGeom prst="ellipse">
            <a:avLst/>
          </a:prstGeom>
          <a:solidFill>
            <a:srgbClr val="6C34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5856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 entregas e como são validadas.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008376"/>
            <a:ext cx="109728" cy="109728"/>
          </a:xfrm>
          <a:prstGeom prst="ellipse">
            <a:avLst/>
          </a:prstGeom>
          <a:solidFill>
            <a:srgbClr val="6C34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86207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os envolvidos em cada fase.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" y="3611880"/>
            <a:ext cx="109728" cy="109728"/>
          </a:xfrm>
          <a:prstGeom prst="ellipse">
            <a:avLst/>
          </a:prstGeom>
          <a:solidFill>
            <a:srgbClr val="6C34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465576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Estabelece controles e aprovações claras.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2D4356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286000" y="4892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 de Projetos de Alto Nível: Da Teo...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25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7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0"/>
            <a:ext cx="9144000" cy="19431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Desvendando as Dimensões do Gerenciamento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371600" y="34747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Áreas de Conhecimento do PMBOK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2D4356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286000" y="4892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 de Projetos de Alto Nível: Da Teo...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25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Gerenciamento da Integração: Conectando os Processos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2377440"/>
            <a:ext cx="8595360" cy="73152"/>
          </a:xfrm>
          <a:prstGeom prst="rect">
            <a:avLst/>
          </a:prstGeom>
          <a:solidFill>
            <a:srgbClr val="2D4356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212848"/>
            <a:ext cx="402336" cy="402336"/>
          </a:xfrm>
          <a:prstGeom prst="ellipse">
            <a:avLst/>
          </a:prstGeom>
          <a:solidFill>
            <a:srgbClr val="1E844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2128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124712" y="1371600"/>
            <a:ext cx="18288" cy="841248"/>
          </a:xfrm>
          <a:prstGeom prst="rect">
            <a:avLst/>
          </a:prstGeom>
          <a:solidFill>
            <a:srgbClr val="2D4356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14400"/>
            <a:ext cx="1627632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**Iniciação:** Desenvolver Termo de Abertura.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51760" y="2212848"/>
            <a:ext cx="402336" cy="402336"/>
          </a:xfrm>
          <a:prstGeom prst="ellipse">
            <a:avLst/>
          </a:prstGeom>
          <a:solidFill>
            <a:srgbClr val="1E844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22128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43784" y="2615184"/>
            <a:ext cx="18288" cy="841248"/>
          </a:xfrm>
          <a:prstGeom prst="rect">
            <a:avLst/>
          </a:prstGeom>
          <a:solidFill>
            <a:srgbClr val="2D4356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39112" y="2834640"/>
            <a:ext cx="162763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**Planejamento:** Desenvolver Plano de Gerenciamento do Projeto.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70832" y="2212848"/>
            <a:ext cx="402336" cy="402336"/>
          </a:xfrm>
          <a:prstGeom prst="ellipse">
            <a:avLst/>
          </a:prstGeom>
          <a:solidFill>
            <a:srgbClr val="1E844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70832" y="22128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62856" y="1371600"/>
            <a:ext cx="18288" cy="841248"/>
          </a:xfrm>
          <a:prstGeom prst="rect">
            <a:avLst/>
          </a:prstGeom>
          <a:solidFill>
            <a:srgbClr val="2D4356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58184" y="914400"/>
            <a:ext cx="1627632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**Execução:** Orientar e Gerenciar a Execução.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9904" y="2212848"/>
            <a:ext cx="402336" cy="402336"/>
          </a:xfrm>
          <a:prstGeom prst="ellipse">
            <a:avLst/>
          </a:prstGeom>
          <a:solidFill>
            <a:srgbClr val="1E844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9904" y="22128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81928" y="2615184"/>
            <a:ext cx="18288" cy="841248"/>
          </a:xfrm>
          <a:prstGeom prst="rect">
            <a:avLst/>
          </a:prstGeom>
          <a:solidFill>
            <a:srgbClr val="2D4356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77256" y="2834640"/>
            <a:ext cx="162763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**Controle:** Monitorar e Controlar; Controle Integrado de Mudanças.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808976" y="2212848"/>
            <a:ext cx="402336" cy="402336"/>
          </a:xfrm>
          <a:prstGeom prst="ellipse">
            <a:avLst/>
          </a:prstGeom>
          <a:solidFill>
            <a:srgbClr val="1E844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08976" y="22128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001000" y="1371600"/>
            <a:ext cx="18288" cy="841248"/>
          </a:xfrm>
          <a:prstGeom prst="rect">
            <a:avLst/>
          </a:prstGeom>
          <a:solidFill>
            <a:srgbClr val="2D4356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96328" y="914400"/>
            <a:ext cx="1627632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**Encerramento:** Encerrar Projeto ou Fase.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2D4356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286000" y="4892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 de Projetos de Alto Nível: Da Teo...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25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Escopo: O Que Faremos (e o que não)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97864"/>
            <a:ext cx="109728" cy="10972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e controlar o trabalho do projeto.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801368"/>
            <a:ext cx="109728" cy="10972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5506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 claras e requisitos detalhados.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404872"/>
            <a:ext cx="109728" cy="10972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5856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'Scope Creep' (desvio de escopo).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008376"/>
            <a:ext cx="109728" cy="10972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86207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Garante o foco nos objetivos definidos.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2D4356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286000" y="4892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 de Projetos de Alto Nível: Da Teo...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25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Cronograma e Custos: Os Pilares Essenciais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480560" y="1005840"/>
            <a:ext cx="45720" cy="3657600"/>
          </a:xfrm>
          <a:prstGeom prst="rect">
            <a:avLst/>
          </a:prstGeom>
          <a:solidFill>
            <a:srgbClr val="6C348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348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Aspecto 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**Gerenciamento do Cronograma**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210312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Definir atividades e sequências.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27432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Desenvolver e controlar o cronograma.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33832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Estimar os custos do projeto.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348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Aspecto 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14630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Gerenciar prazos do projeto.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210312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Estimativa de duração.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27432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**Gerenciamento dos Custos**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33832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Determinar o orçamento.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2D4356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286000" y="4892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 de Projetos de Alto Nível: Da Teo...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25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Gerenciamento dos Custos: EVM em Ação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103120" cy="3474720"/>
          </a:xfrm>
          <a:prstGeom prst="roundRect">
            <a:avLst>
              <a:gd name="adj" fmla="val 4348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64592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**Exemplo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301752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 Projeto de R$ 1.200.000,00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68880" y="1005840"/>
            <a:ext cx="2103120" cy="3474720"/>
          </a:xfrm>
          <a:prstGeom prst="roundRect">
            <a:avLst>
              <a:gd name="adj" fmla="val 4348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64592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VP (Valor Planejado) = R$ 250.000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468880" y="301752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(Valor Planejado) = R$ 250.000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2103120" cy="3474720"/>
          </a:xfrm>
          <a:prstGeom prst="roundRect">
            <a:avLst>
              <a:gd name="adj" fmla="val 4348"/>
            </a:avLst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64592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 (Custo Real) = R$ 230.000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63440" y="301752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(Custo Real) = R$ 230.000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0" y="1005840"/>
            <a:ext cx="2103120" cy="3474720"/>
          </a:xfrm>
          <a:prstGeom prst="roundRect">
            <a:avLst>
              <a:gd name="adj" fmla="val 4348"/>
            </a:avLst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164592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 (Valor Agregado) = R$ 200.000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58000" y="301752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(Valor Agregado) = R$ 200.000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2D4356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2286000" y="4892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 de Projetos de Alto Nível: Da Teo...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25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84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Qualidade e Recursos: Excelência e Capacidade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97864"/>
            <a:ext cx="109728" cy="109728"/>
          </a:xfrm>
          <a:prstGeom prst="ellipse">
            <a:avLst/>
          </a:prstGeom>
          <a:solidFill>
            <a:srgbClr val="1E84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**Qualidade:** Planejar, garantir, controlar.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801368"/>
            <a:ext cx="109728" cy="109728"/>
          </a:xfrm>
          <a:prstGeom prst="ellipse">
            <a:avLst/>
          </a:prstGeom>
          <a:solidFill>
            <a:srgbClr val="1E84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5506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**Recursos:** Identificar, adquirir, gerenciar (equipe, materiais).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404872"/>
            <a:ext cx="109728" cy="109728"/>
          </a:xfrm>
          <a:prstGeom prst="ellipse">
            <a:avLst/>
          </a:prstGeom>
          <a:solidFill>
            <a:srgbClr val="1E84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5856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GRH: Define papéis e responsabilidades.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008376"/>
            <a:ext cx="109728" cy="109728"/>
          </a:xfrm>
          <a:prstGeom prst="ellipse">
            <a:avLst/>
          </a:prstGeom>
          <a:solidFill>
            <a:srgbClr val="1E84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86207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Treinamentos: Essenciais para desempenho da equipe.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2D4356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286000" y="4892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 de Projetos de Alto Nível: Da Teo...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25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Gerenciamento da Comunicação: Fluxos Essenciais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480560" y="1005840"/>
            <a:ext cx="45720" cy="3657600"/>
          </a:xfrm>
          <a:prstGeom prst="rect">
            <a:avLst/>
          </a:prstGeom>
          <a:solidFill>
            <a:srgbClr val="E67E22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Aspecto 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**Ciclo da Mensagem**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210312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Meio, Ruído, Decodificação.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27432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**Plano de Comunicação**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33832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 Quem: Responsável.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Aspecto 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14630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Emissor, Codificação, Mensagem.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210312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Receptor, Feedback, Resposta.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27432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Informação: O quê?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33832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Para Quem: Público-alvo.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2D4356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286000" y="4892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 de Projetos de Alto Nível: Da Teo...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25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34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Gerenciamento de Riscos: Antecipar para Mitigar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97864"/>
            <a:ext cx="109728" cy="109728"/>
          </a:xfrm>
          <a:prstGeom prst="ellipse">
            <a:avLst/>
          </a:prstGeom>
          <a:solidFill>
            <a:srgbClr val="6C34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Planejar: Como gerenciar riscos.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801368"/>
            <a:ext cx="109728" cy="109728"/>
          </a:xfrm>
          <a:prstGeom prst="ellipse">
            <a:avLst/>
          </a:prstGeom>
          <a:solidFill>
            <a:srgbClr val="6C34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5506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Identificar: Quais riscos podem ocorrer?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404872"/>
            <a:ext cx="109728" cy="109728"/>
          </a:xfrm>
          <a:prstGeom prst="ellipse">
            <a:avLst/>
          </a:prstGeom>
          <a:solidFill>
            <a:srgbClr val="6C34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5856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Analisar: Qualitativa e quantitativamente.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008376"/>
            <a:ext cx="109728" cy="109728"/>
          </a:xfrm>
          <a:prstGeom prst="ellipse">
            <a:avLst/>
          </a:prstGeom>
          <a:solidFill>
            <a:srgbClr val="6C34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86207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Responder: Desenvolver planos de ação.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" y="3611880"/>
            <a:ext cx="109728" cy="109728"/>
          </a:xfrm>
          <a:prstGeom prst="ellipse">
            <a:avLst/>
          </a:prstGeom>
          <a:solidFill>
            <a:srgbClr val="6C34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465576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Controlar: Monitorar e ajustar continuamente.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2D4356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286000" y="4892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 de Projetos de Alto Nível: Da Teo...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25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Gerenciamento das Aquisições: Comprando com Estratégia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97864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Planejar: Definir o que comprar/fazer.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801368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5506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Conduzir: Selecionar fornecedores, assinar contratos.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404872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5856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Controlar: Gerenciar relações e contratos.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008376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86207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Encerrar: Finalizar contratos formalmente.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" y="3611880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465576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Contrato: Preço Fechado, Custo, Preço Máximo Garantido.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2D4356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286000" y="4892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 de Projetos de Alto Nível: Da Teo...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25</a:t>
            </a:r>
            <a:endParaRPr lang="en-US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Gerenciamento de Stakeholders: Quem Importa?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480560" y="1005840"/>
            <a:ext cx="45720" cy="3657600"/>
          </a:xfrm>
          <a:prstGeom prst="rect">
            <a:avLst/>
          </a:prstGeom>
          <a:solidFill>
            <a:srgbClr val="1E8449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44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Aspecto 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**Definição**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210312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Identificar e gerenciar expectativas.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27432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**Matriz Poder/Interesse**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33832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Alto Poder / Baixo Interesse: Manter Satisfeito.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44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Aspecto 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14630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Indivíduos ou organizações afetados pelo projeto.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210312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Essenciais para o sucesso.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27432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Alto Poder / Alto Interesse: Gerenciar de Perto.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33832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Baixo Poder / Alto Interesse: Manter Informado.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2D4356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286000" y="4892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 de Projetos de Alto Nível: Da Teo...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25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Recapitulação: As Chaves do Gerenciamento de Projetos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F0F4F8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5156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Projetos são esforços temporários e únicos com objetivos.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78308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F0F4F8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7830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 Integração coordena todas as outras áreas de conhecimento.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51460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F0F4F8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5146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Escopo, Tempo, Custo e Qualidade são pilares fundamentais.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F0F4F8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5156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Pessoas, Comunicação, Riscos e Aquisições são vitais.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78308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F0F4F8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7830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Stakeholders definem o ambiente e influenciam o projeto.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2D4356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286000" y="4892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 de Projetos de Alto Nível: Da Teo...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25</a:t>
            </a:r>
            <a:endParaRPr lang="en-US" sz="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C34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Pensando o Futuro: Desafios e Oportunidades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109728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399032"/>
            <a:ext cx="402336" cy="402336"/>
          </a:xfrm>
          <a:prstGeom prst="ellipse">
            <a:avLst/>
          </a:prstGeom>
          <a:solidFill>
            <a:srgbClr val="6C34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3990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1430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a área do PMBOK você considera mais desafiadora e por quê?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286000"/>
            <a:ext cx="8595360" cy="109728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633472"/>
            <a:ext cx="402336" cy="402336"/>
          </a:xfrm>
          <a:prstGeom prst="ellipse">
            <a:avLst/>
          </a:prstGeom>
          <a:solidFill>
            <a:srgbClr val="6C34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6334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23774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matriz Poder/Interesse pode ser aplicada no seu contexto profissional?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520440"/>
            <a:ext cx="8595360" cy="109728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3867912"/>
            <a:ext cx="402336" cy="402336"/>
          </a:xfrm>
          <a:prstGeom prst="ellipse">
            <a:avLst/>
          </a:prstGeom>
          <a:solidFill>
            <a:srgbClr val="6C34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38679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36118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Pense em um projeto recente. Como a gestão de riscos poderia ter melhorado?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2D4356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2286000" y="4892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 de Projetos de Alto Nível: Da Teo...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25</a:t>
            </a:r>
            <a:endParaRPr lang="en-US" sz="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77440"/>
            <a:ext cx="3657600" cy="2743200"/>
          </a:xfrm>
          <a:prstGeom prst="rtTriangle">
            <a:avLst/>
          </a:prstGeom>
          <a:solidFill>
            <a:srgbClr val="065A82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Sua Jornada no GP Começa Agora!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2743200" y="2834640"/>
            <a:ext cx="36576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Rogério Aparecido Silva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2D4356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286000" y="4892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 de Projetos de Alto Nível: Da Teo...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25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Gerenciamento de Projetos de Alto Nível: Da Teoria à Prática</dc:title>
  <dc:subject>PptxGenJS Presentation</dc:subject>
  <dc:creator>EduCore AI</dc:creator>
  <cp:lastModifiedBy>EduCore AI</cp:lastModifiedBy>
  <cp:revision>1</cp:revision>
  <dcterms:created xsi:type="dcterms:W3CDTF">2026-05-23T20:25:26Z</dcterms:created>
  <dcterms:modified xsi:type="dcterms:W3CDTF">2026-05-23T20:25:26Z</dcterms:modified>
</cp:coreProperties>
</file>